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embeddedFontLst>
    <p:embeddedFont>
      <p:font typeface="Calibri (MS)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2084579"/>
            <a:ext cx="7581900" cy="660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Rainfall Data Science Analysis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38400" y="2745081"/>
            <a:ext cx="3793361" cy="15827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Atharva Vairagade</a:t>
            </a:r>
          </a:p>
          <a:p>
            <a:pPr algn="ctr">
              <a:lnSpc>
                <a:spcPts val="4199"/>
              </a:lnSpc>
            </a:pPr>
            <a:r>
              <a:rPr lang="en-US" sz="29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22070521015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Sec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30273" y="1346527"/>
            <a:ext cx="3517298" cy="474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459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57980" y="1404871"/>
            <a:ext cx="52692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0261" y="1931927"/>
            <a:ext cx="7355415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project analyzes rainfall dataacrossIndianstatesanddistricts to uncover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0261" y="2802865"/>
            <a:ext cx="7587939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dataset includes rainfall metrics ('actual', 'rfs', 'normal') from 2009 onwards.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70504" y="2680592"/>
            <a:ext cx="52768" cy="187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3369" y="3782035"/>
            <a:ext cx="4233834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5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Deep Learning —to derive different insights.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3369" y="2396747"/>
            <a:ext cx="3788264" cy="529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6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rainfall trends and predict rainfall levels.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3369" y="3267685"/>
            <a:ext cx="7803309" cy="529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6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MultipleMLtechniqueswereapplied—Regression,Classification,Clustering,and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62200" y="1143000"/>
            <a:ext cx="4091816" cy="822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48"/>
              </a:lnSpc>
            </a:pPr>
            <a:r>
              <a:rPr lang="en-US" sz="439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 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62209" y="2133600"/>
            <a:ext cx="5091798" cy="1656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Total Records: 151,139 </a:t>
            </a:r>
          </a:p>
          <a:p>
            <a:pPr algn="l">
              <a:lnSpc>
                <a:spcPts val="2593"/>
              </a:lnSpc>
            </a:pPr>
            <a:r>
              <a:rPr lang="en-US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Columns: 10 (including state, district, rainfall values) • Period: 2009 onwards </a:t>
            </a:r>
          </a:p>
          <a:p>
            <a:pPr algn="l">
              <a:lnSpc>
                <a:spcPts val="2593"/>
              </a:lnSpc>
            </a:pPr>
            <a:r>
              <a:rPr lang="en-US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Clean dataset (no missing values or duplicates)</a:t>
            </a:r>
          </a:p>
          <a:p>
            <a:pPr algn="l">
              <a:lnSpc>
                <a:spcPts val="2593"/>
              </a:lnSpc>
            </a:pPr>
            <a:r>
              <a:rPr lang="en-US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• Features: Mix of numerical and categorical variables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0254" y="3028483"/>
            <a:ext cx="4770835" cy="3635838"/>
          </a:xfrm>
          <a:custGeom>
            <a:avLst/>
            <a:gdLst/>
            <a:ahLst/>
            <a:cxnLst/>
            <a:rect l="l" t="t" r="r" b="b"/>
            <a:pathLst>
              <a:path w="4770835" h="3635838">
                <a:moveTo>
                  <a:pt x="0" y="0"/>
                </a:moveTo>
                <a:lnTo>
                  <a:pt x="4770835" y="0"/>
                </a:lnTo>
                <a:lnTo>
                  <a:pt x="4770835" y="3635838"/>
                </a:lnTo>
                <a:lnTo>
                  <a:pt x="0" y="3635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23516" y="775535"/>
            <a:ext cx="4791608" cy="44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439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 Cleaning &amp; EDA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31899" y="1404871"/>
            <a:ext cx="52692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3369" y="1438046"/>
            <a:ext cx="4818040" cy="310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Removed unnecessary ID columns and duplicates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3369" y="1700936"/>
            <a:ext cx="5227720" cy="1327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7"/>
              </a:lnSpc>
            </a:pPr>
            <a:r>
              <a:rPr lang="en-US" sz="18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Encoded categorical columns (</a:t>
            </a:r>
            <a:r>
              <a:rPr lang="en-US" sz="180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state_name</a:t>
            </a:r>
            <a:r>
              <a:rPr lang="en-US" sz="18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 </a:t>
            </a:r>
          </a:p>
          <a:p>
            <a:pPr algn="l">
              <a:lnSpc>
                <a:spcPts val="2597"/>
              </a:lnSpc>
            </a:pPr>
            <a:r>
              <a:rPr lang="en-US" sz="18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Verified dataset integrity (no nulls) </a:t>
            </a:r>
          </a:p>
          <a:p>
            <a:pPr algn="l">
              <a:lnSpc>
                <a:spcPts val="2597"/>
              </a:lnSpc>
            </a:pPr>
            <a:r>
              <a:rPr lang="en-US" sz="18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Analyzed rainfall distributions and correlations </a:t>
            </a:r>
          </a:p>
          <a:p>
            <a:pPr algn="l">
              <a:lnSpc>
                <a:spcPts val="2597"/>
              </a:lnSpc>
            </a:pPr>
            <a:r>
              <a:rPr lang="en-US" sz="18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Visuals: Rainfall distribution, state-wise rainfall trends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6360" y="3606147"/>
            <a:ext cx="7050840" cy="2834727"/>
          </a:xfrm>
          <a:custGeom>
            <a:avLst/>
            <a:gdLst/>
            <a:ahLst/>
            <a:cxnLst/>
            <a:rect l="l" t="t" r="r" b="b"/>
            <a:pathLst>
              <a:path w="6879915" h="2407970">
                <a:moveTo>
                  <a:pt x="0" y="0"/>
                </a:moveTo>
                <a:lnTo>
                  <a:pt x="6879915" y="0"/>
                </a:lnTo>
                <a:lnTo>
                  <a:pt x="6879915" y="2407970"/>
                </a:lnTo>
                <a:lnTo>
                  <a:pt x="0" y="2407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46604" y="775535"/>
            <a:ext cx="4131640" cy="44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439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Regression Model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52167" y="1404871"/>
            <a:ext cx="52692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3369" y="1595371"/>
            <a:ext cx="6024934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Goal: Predict'actual'rainfallfrom'rfs','normal',andstateinfo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3369" y="1924307"/>
            <a:ext cx="5266439" cy="1327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7"/>
              </a:lnSpc>
            </a:pPr>
            <a:r>
              <a:rPr lang="en-US" sz="18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Models: Linear, Polynomial Regression </a:t>
            </a:r>
          </a:p>
          <a:p>
            <a:pPr algn="l">
              <a:lnSpc>
                <a:spcPts val="2597"/>
              </a:lnSpc>
            </a:pPr>
            <a:r>
              <a:rPr lang="en-US" sz="18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Evaluation: MAE, RMSE, R² </a:t>
            </a:r>
          </a:p>
          <a:p>
            <a:pPr algn="l">
              <a:lnSpc>
                <a:spcPts val="2597"/>
              </a:lnSpc>
            </a:pPr>
            <a:r>
              <a:rPr lang="en-US" sz="18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Polynomial captured nonlinear rainfall patterns better • Visuals: Actual vs Predicted rainfall trend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1042" y="3429000"/>
            <a:ext cx="8656517" cy="3029781"/>
          </a:xfrm>
          <a:custGeom>
            <a:avLst/>
            <a:gdLst/>
            <a:ahLst/>
            <a:cxnLst/>
            <a:rect l="l" t="t" r="r" b="b"/>
            <a:pathLst>
              <a:path w="8656517" h="3029781">
                <a:moveTo>
                  <a:pt x="0" y="0"/>
                </a:moveTo>
                <a:lnTo>
                  <a:pt x="8656517" y="0"/>
                </a:lnTo>
                <a:lnTo>
                  <a:pt x="8656517" y="3029781"/>
                </a:lnTo>
                <a:lnTo>
                  <a:pt x="0" y="3029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21042" y="399219"/>
            <a:ext cx="6075359" cy="1157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96"/>
              </a:lnSpc>
            </a:pPr>
            <a:r>
              <a:rPr lang="en-US" sz="439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Classification Model</a:t>
            </a:r>
          </a:p>
          <a:p>
            <a:pPr algn="r">
              <a:lnSpc>
                <a:spcPts val="2196"/>
              </a:lnSpc>
            </a:pPr>
            <a:endParaRPr lang="en-US" sz="4392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r">
              <a:lnSpc>
                <a:spcPts val="2195"/>
              </a:lnSpc>
            </a:pPr>
            <a:endParaRPr lang="en-US" sz="4392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r">
              <a:lnSpc>
                <a:spcPts val="2593"/>
              </a:lnSpc>
            </a:pP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Converted rainfall levels into categories(</a:t>
            </a:r>
            <a:r>
              <a:rPr lang="en-US" sz="18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Low,Moderate,High</a:t>
            </a: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17928" y="1404871"/>
            <a:ext cx="52692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1556587"/>
            <a:ext cx="4504906" cy="1327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7"/>
              </a:lnSpc>
            </a:pPr>
            <a:r>
              <a:rPr lang="en-US" sz="18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Applied Logistic Regression and Decision Tree • Metrics: Accuracy, Confusion Matrix </a:t>
            </a:r>
          </a:p>
          <a:p>
            <a:pPr algn="l">
              <a:lnSpc>
                <a:spcPts val="2597"/>
              </a:lnSpc>
            </a:pPr>
            <a:r>
              <a:rPr lang="en-US" sz="18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Insights: Useful for rainfall alert system design • Visuals: Confusion matrix, Decision regions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1299" y="2330425"/>
            <a:ext cx="6273524" cy="4101317"/>
          </a:xfrm>
          <a:custGeom>
            <a:avLst/>
            <a:gdLst/>
            <a:ahLst/>
            <a:cxnLst/>
            <a:rect l="l" t="t" r="r" b="b"/>
            <a:pathLst>
              <a:path w="6273524" h="4101317">
                <a:moveTo>
                  <a:pt x="0" y="0"/>
                </a:moveTo>
                <a:lnTo>
                  <a:pt x="6273524" y="0"/>
                </a:lnTo>
                <a:lnTo>
                  <a:pt x="6273524" y="4101316"/>
                </a:lnTo>
                <a:lnTo>
                  <a:pt x="0" y="4101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8272" y="355345"/>
            <a:ext cx="3947874" cy="44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439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Clustering Model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96519" y="1404871"/>
            <a:ext cx="52692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272" y="720572"/>
            <a:ext cx="4271582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8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Used K-Meansclustering on rainfallmetrics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99440" y="1924307"/>
            <a:ext cx="52768" cy="339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272" y="1332481"/>
            <a:ext cx="4838376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8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Insights: Drought-prone vs. heavy rainfall districts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62058" y="2583056"/>
            <a:ext cx="52768" cy="339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665" y="808253"/>
            <a:ext cx="4112800" cy="529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6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Objective:Identify rainfall pattern regions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272" y="1437718"/>
            <a:ext cx="4409789" cy="529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6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Visuals:Clustered rainfall regions, Elbowplot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3245" y="3009714"/>
            <a:ext cx="8637510" cy="3023129"/>
          </a:xfrm>
          <a:custGeom>
            <a:avLst/>
            <a:gdLst/>
            <a:ahLst/>
            <a:cxnLst/>
            <a:rect l="l" t="t" r="r" b="b"/>
            <a:pathLst>
              <a:path w="8637510" h="3023129">
                <a:moveTo>
                  <a:pt x="0" y="0"/>
                </a:moveTo>
                <a:lnTo>
                  <a:pt x="8637510" y="0"/>
                </a:lnTo>
                <a:lnTo>
                  <a:pt x="8637510" y="3023129"/>
                </a:lnTo>
                <a:lnTo>
                  <a:pt x="0" y="30231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9484" y="244373"/>
            <a:ext cx="4970821" cy="44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4391" spc="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Deep Learning Model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32202" y="1404871"/>
            <a:ext cx="52692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3569" y="754992"/>
            <a:ext cx="4438431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Neural Networkbuiltusing TensorFlow/Keras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3569" y="1101142"/>
            <a:ext cx="4527071" cy="1327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7"/>
              </a:lnSpc>
            </a:pPr>
            <a:r>
              <a:rPr lang="en-US" sz="18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Inputs: Encoded rainfall and location features • Output: Predicted rainfall (continuous) </a:t>
            </a:r>
          </a:p>
          <a:p>
            <a:pPr algn="l">
              <a:lnSpc>
                <a:spcPts val="2597"/>
              </a:lnSpc>
            </a:pPr>
            <a:r>
              <a:rPr lang="en-US" sz="18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R² ≈ 0.75 —performed best among all models • Visuals: Error distribution, Feature influence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94664" y="2477272"/>
            <a:ext cx="5285465" cy="4222297"/>
          </a:xfrm>
          <a:custGeom>
            <a:avLst/>
            <a:gdLst/>
            <a:ahLst/>
            <a:cxnLst/>
            <a:rect l="l" t="t" r="r" b="b"/>
            <a:pathLst>
              <a:path w="5285465" h="4222297">
                <a:moveTo>
                  <a:pt x="0" y="0"/>
                </a:moveTo>
                <a:lnTo>
                  <a:pt x="5285465" y="0"/>
                </a:lnTo>
                <a:lnTo>
                  <a:pt x="5285465" y="4222297"/>
                </a:lnTo>
                <a:lnTo>
                  <a:pt x="0" y="4222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53558" y="400366"/>
            <a:ext cx="3282210" cy="44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439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Visual Insights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3076" y="1404871"/>
            <a:ext cx="52692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3558" y="801776"/>
            <a:ext cx="3453508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Scatter: Actual vs Predictedrainfall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3558" y="1111625"/>
            <a:ext cx="4852073" cy="1327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7"/>
              </a:lnSpc>
            </a:pPr>
            <a:r>
              <a:rPr lang="en-US" sz="18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Trend: Year-wise rainfall variation</a:t>
            </a:r>
          </a:p>
          <a:p>
            <a:pPr algn="l">
              <a:lnSpc>
                <a:spcPts val="2597"/>
              </a:lnSpc>
            </a:pPr>
            <a:r>
              <a:rPr lang="en-US" sz="18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• Error Plot: Model deviation</a:t>
            </a:r>
          </a:p>
          <a:p>
            <a:pPr algn="l">
              <a:lnSpc>
                <a:spcPts val="2597"/>
              </a:lnSpc>
            </a:pPr>
            <a:r>
              <a:rPr lang="en-US" sz="18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• Feature Importance: Key rainfall predictors</a:t>
            </a:r>
          </a:p>
          <a:p>
            <a:pPr algn="l">
              <a:lnSpc>
                <a:spcPts val="2597"/>
              </a:lnSpc>
            </a:pPr>
            <a:r>
              <a:rPr lang="en-US" sz="18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• Simple visuals make results clear for all audiences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3245" y="775535"/>
            <a:ext cx="2527230" cy="44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4391" spc="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776396" y="1407919"/>
            <a:ext cx="52692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93369" y="1542117"/>
            <a:ext cx="4473092" cy="367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4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✅Regression &amp; Deep Learningperformedbest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3369" y="1870977"/>
            <a:ext cx="4395683" cy="696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8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✅Clustering identified natural rainfall groups ✅Classification supports rainfall alert systems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3369" y="2859491"/>
            <a:ext cx="1587827" cy="367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4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🌱Future Scope: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93532" y="3241681"/>
            <a:ext cx="52768" cy="339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8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8200" y="3932604"/>
            <a:ext cx="4150538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4"/>
              </a:lnSpc>
            </a:pP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Apply deep temporal models (LSTM, CNN)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37198" y="3900297"/>
            <a:ext cx="52768" cy="339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8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8200" y="3331248"/>
            <a:ext cx="3258464" cy="493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6"/>
              </a:lnSpc>
            </a:pPr>
            <a:r>
              <a:rPr lang="en-US" sz="18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Integrate real-time weather data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6498" y="4143261"/>
            <a:ext cx="5511213" cy="493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6"/>
              </a:lnSpc>
            </a:pPr>
            <a:r>
              <a:rPr lang="en-US" sz="18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Include satellite rainfall imagery for precision forecasting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403</Words>
  <Application>Microsoft Office PowerPoint</Application>
  <PresentationFormat>On-screen Show (4:3)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 (MS)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Rainfall_Prediction_Project_PPT_asuma.pdf</dc:title>
  <cp:lastModifiedBy>Atharva Vairagade</cp:lastModifiedBy>
  <cp:revision>2</cp:revision>
  <dcterms:created xsi:type="dcterms:W3CDTF">2006-08-16T00:00:00Z</dcterms:created>
  <dcterms:modified xsi:type="dcterms:W3CDTF">2025-11-05T09:33:39Z</dcterms:modified>
  <dc:identifier>DAG30P_44Zo</dc:identifier>
</cp:coreProperties>
</file>